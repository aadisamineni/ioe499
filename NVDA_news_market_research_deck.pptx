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83171c098f4f94" /><Relationship Type="http://schemas.openxmlformats.org/officeDocument/2006/relationships/extended-properties" Target="/docProps/app.xml" Id="Ra41e716a8164464d" /><Relationship Type="http://schemas.openxmlformats.org/officeDocument/2006/relationships/officeDocument" Target="/ppt/presentation.xml" Id="R66b224afa0064f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3067bbed3e4c0c"/>
  </p:sldMasterIdLst>
  <p:notesMasterIdLst>
    <p:notesMasterId xmlns:r="http://schemas.openxmlformats.org/officeDocument/2006/relationships" r:id="R6ae4a08e0ef24a83"/>
  </p:notesMasterIdLst>
  <p:sldIdLst>
    <p:sldId xmlns:r="http://schemas.openxmlformats.org/officeDocument/2006/relationships" id="256" r:id="R610a4eb780784a2a"/>
    <p:sldId xmlns:r="http://schemas.openxmlformats.org/officeDocument/2006/relationships" id="257" r:id="R10d417e0539e445f"/>
    <p:sldId xmlns:r="http://schemas.openxmlformats.org/officeDocument/2006/relationships" id="258" r:id="Ra79656ceea8143f2"/>
    <p:sldId xmlns:r="http://schemas.openxmlformats.org/officeDocument/2006/relationships" id="259" r:id="R9e61bb5fc339405b"/>
    <p:sldId xmlns:r="http://schemas.openxmlformats.org/officeDocument/2006/relationships" id="260" r:id="R8a1ae9fa6acc4bc7"/>
    <p:sldId xmlns:r="http://schemas.openxmlformats.org/officeDocument/2006/relationships" id="261" r:id="Rf601b9e5c81d4f23"/>
    <p:sldId xmlns:r="http://schemas.openxmlformats.org/officeDocument/2006/relationships" id="262" r:id="R3f23ba5e029047e2"/>
    <p:sldId xmlns:r="http://schemas.openxmlformats.org/officeDocument/2006/relationships" id="263" r:id="R20aa2f665a914e44"/>
    <p:sldId xmlns:r="http://schemas.openxmlformats.org/officeDocument/2006/relationships" id="264" r:id="R640ed7bcb82245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b020d73c014be1" /><Relationship Type="http://schemas.openxmlformats.org/officeDocument/2006/relationships/slideMaster" Target="/ppt/slideMasters/slideMaster1.xml" Id="Rf53067bbed3e4c0c" /><Relationship Type="http://schemas.openxmlformats.org/officeDocument/2006/relationships/notesMaster" Target="/ppt/notesMasters/notesMaster1.xml" Id="R6ae4a08e0ef24a83" /><Relationship Type="http://schemas.openxmlformats.org/officeDocument/2006/relationships/presProps" Target="/ppt/presProps.xml" Id="Ree87438e0d154215" /><Relationship Type="http://schemas.openxmlformats.org/officeDocument/2006/relationships/tableStyles" Target="/ppt/tableStyles.xml" Id="R6e1cd756ee7248fa" /><Relationship Type="http://schemas.openxmlformats.org/officeDocument/2006/relationships/slide" Target="/ppt/slides/slide1.xml" Id="R610a4eb780784a2a" /><Relationship Type="http://schemas.openxmlformats.org/officeDocument/2006/relationships/slide" Target="/ppt/slides/slide2.xml" Id="R10d417e0539e445f" /><Relationship Type="http://schemas.openxmlformats.org/officeDocument/2006/relationships/slide" Target="/ppt/slides/slide3.xml" Id="Ra79656ceea8143f2" /><Relationship Type="http://schemas.openxmlformats.org/officeDocument/2006/relationships/slide" Target="/ppt/slides/slide4.xml" Id="R9e61bb5fc339405b" /><Relationship Type="http://schemas.openxmlformats.org/officeDocument/2006/relationships/slide" Target="/ppt/slides/slide5.xml" Id="R8a1ae9fa6acc4bc7" /><Relationship Type="http://schemas.openxmlformats.org/officeDocument/2006/relationships/slide" Target="/ppt/slides/slide6.xml" Id="Rf601b9e5c81d4f23" /><Relationship Type="http://schemas.openxmlformats.org/officeDocument/2006/relationships/slide" Target="/ppt/slides/slide7.xml" Id="R3f23ba5e029047e2" /><Relationship Type="http://schemas.openxmlformats.org/officeDocument/2006/relationships/slide" Target="/ppt/slides/slide8.xml" Id="R20aa2f665a914e44" /><Relationship Type="http://schemas.openxmlformats.org/officeDocument/2006/relationships/slide" Target="/ppt/slides/slide9.xml" Id="R640ed7bcb82245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ae388f352b49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1e33e02aae4b6f" /><Relationship Type="http://schemas.openxmlformats.org/officeDocument/2006/relationships/notesMaster" Target="/ppt/notesMasters/notesMaster1.xml" Id="Ra5d0f288e7ac45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c0ff5b99904325" /><Relationship Type="http://schemas.openxmlformats.org/officeDocument/2006/relationships/notesMaster" Target="/ppt/notesMasters/notesMaster1.xml" Id="R25b525dd7bf742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7c375afe574390" /><Relationship Type="http://schemas.openxmlformats.org/officeDocument/2006/relationships/notesMaster" Target="/ppt/notesMasters/notesMaster1.xml" Id="Raedbbade05c740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4d1092d35445c6" /><Relationship Type="http://schemas.openxmlformats.org/officeDocument/2006/relationships/notesMaster" Target="/ppt/notesMasters/notesMaster1.xml" Id="Ra907c220b2814c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10cdd6abe7472f" /><Relationship Type="http://schemas.openxmlformats.org/officeDocument/2006/relationships/notesMaster" Target="/ppt/notesMasters/notesMaster1.xml" Id="R6f0f3ae2be864a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3bb0cfb431415f" /><Relationship Type="http://schemas.openxmlformats.org/officeDocument/2006/relationships/notesMaster" Target="/ppt/notesMasters/notesMaster1.xml" Id="R0c43c11fea074d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6619c6d18641a6" /><Relationship Type="http://schemas.openxmlformats.org/officeDocument/2006/relationships/notesMaster" Target="/ppt/notesMasters/notesMaster1.xml" Id="R0d6ddd4268744e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8dd8bb380a4102" /><Relationship Type="http://schemas.openxmlformats.org/officeDocument/2006/relationships/notesMaster" Target="/ppt/notesMasters/notesMaster1.xml" Id="Rfb740798f05f44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78b2ef8bda4827" /><Relationship Type="http://schemas.openxmlformats.org/officeDocument/2006/relationships/notesMaster" Target="/ppt/notesMasters/notesMaster1.xml" Id="R3ac7f41b4e6f4c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21bdc6fc342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e083aedc684143" /><Relationship Type="http://schemas.openxmlformats.org/officeDocument/2006/relationships/slideLayout" Target="/ppt/slideLayouts/slideLayout1.xml" Id="R34bca431ca7e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bca431ca7e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b0945dddf47e0" /><Relationship Type="http://schemas.openxmlformats.org/officeDocument/2006/relationships/notesSlide" Target="/ppt/notesSlides/notesSlide1.xml" Id="R9cf487c3c05a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872a94d7a4292" /><Relationship Type="http://schemas.openxmlformats.org/officeDocument/2006/relationships/notesSlide" Target="/ppt/notesSlides/notesSlide2.xml" Id="Re79f60c4b5a242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9196eb9fc447f" /><Relationship Type="http://schemas.openxmlformats.org/officeDocument/2006/relationships/notesSlide" Target="/ppt/notesSlides/notesSlide3.xml" Id="R8c7d689a5dbf4b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87ed1c822426c" /><Relationship Type="http://schemas.openxmlformats.org/officeDocument/2006/relationships/notesSlide" Target="/ppt/notesSlides/notesSlide4.xml" Id="R8eaaa9f37d8340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84de4ed8e4247" /><Relationship Type="http://schemas.openxmlformats.org/officeDocument/2006/relationships/notesSlide" Target="/ppt/notesSlides/notesSlide5.xml" Id="R3524f90e1b6649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9f7b3fe55452f" /><Relationship Type="http://schemas.openxmlformats.org/officeDocument/2006/relationships/notesSlide" Target="/ppt/notesSlides/notesSlide6.xml" Id="R265a8bd8a1f54f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35dd3020a4e22" /><Relationship Type="http://schemas.openxmlformats.org/officeDocument/2006/relationships/notesSlide" Target="/ppt/notesSlides/notesSlide7.xml" Id="R1ded9c5635dc4b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e93e91d9d4229" /><Relationship Type="http://schemas.openxmlformats.org/officeDocument/2006/relationships/notesSlide" Target="/ppt/notesSlides/notesSlide8.xml" Id="Rf9fc4efdd65f43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ce681b5a347a0" /><Relationship Type="http://schemas.openxmlformats.org/officeDocument/2006/relationships/notesSlide" Target="/ppt/notesSlides/notesSlide9.xml" Id="R993de8bb7c094c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DA025-AE21-483F-B47D-7DE1FD8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/>
            </a:pPr>
            <a:r>
              <a:rPr sz="4050" b="1"/>
              <a:t>NVDA news &amp; market movement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0FC4F-1EC2-4BD2-BF1B-62633488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/>
            </a:pPr>
            <a:r>
              <a:rPr sz="1800" b="0"/>
              <a:t>A reproducible pipeline for linking pre-session news to large Nvidia price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B6F9C-6195-4901-B644-5C36AAF3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74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9250B-3976-456E-BA5F-09DDEFB8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/>
            </a:pPr>
            <a:r>
              <a:rPr sz="1350" b="0"/>
              <a:t>Project overview  |  October 2025–May 2026 data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2B2DE-A8CC-47CA-9C89-9E7823F0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/>
            </a:pPr>
            <a:r>
              <a:rPr sz="1650" b="1"/>
              <a:t>IOE 499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E7915-4EF2-441D-B1A5-FB1620F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666F3-F270-4769-85BA-EC7A2153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IOE 499  •  NVDA news-and-market-movement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F2BB1-DC99-4C2E-9857-B848498E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/>
            </a:pPr>
            <a:r>
              <a:rPr sz="1200" b="1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5442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B32CC-67A2-4817-96BE-BEEAFC37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/>
            </a:pPr>
            <a:r>
              <a:rPr sz="2700" b="1"/>
              <a:t>The project asks a focused timing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14C71-A6B6-40DE-BC80-D1E16360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/>
            </a:pPr>
            <a:r>
              <a:rPr sz="1350" b="0"/>
              <a:t>What relevant information appeared before unusually large NVDA moves?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D3C73-0EE6-4D49-B057-79E2E717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80607-6480-43CE-8653-95DCA49C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Research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6ADB3-3E07-4364-9CAF-DD5A1D5F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/>
            </a:pPr>
            <a:r>
              <a:rPr sz="2025" b="0"/>
              <a:t>Are relevant news stories temporally associated with sessions where NVDA’s adjusted close moves at least 1% or 5%?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3F28D-3663-4E97-807F-8D851890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68AF9-9F72-4A55-B004-36A30FDE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What the dataset can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14B6F-47A2-4677-A313-41375C2D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/>
            </a:pPr>
            <a:r>
              <a:rPr sz="1725" b="0"/>
              <a:t>• Event-level news inventories</a:t>
            </a:r>
          </a:p>
          <a:p xmlns:a="http://schemas.openxmlformats.org/drawingml/2006/main">
            <a:pPr>
              <a:defRPr sz="1725" b="0"/>
            </a:pPr>
            <a:r>
              <a:rPr sz="1725" b="0"/>
              <a:t>• Lookback-window comparisons</a:t>
            </a:r>
          </a:p>
          <a:p xmlns:a="http://schemas.openxmlformats.org/drawingml/2006/main">
            <a:pPr>
              <a:defRPr sz="1725" b="0"/>
            </a:pPr>
            <a:r>
              <a:rPr sz="1725" b="0"/>
              <a:t>• Coverage and timing audits</a:t>
            </a:r>
          </a:p>
          <a:p xmlns:a="http://schemas.openxmlformats.org/drawingml/2006/main">
            <a:pPr>
              <a:defRPr sz="1725" b="0"/>
            </a:pPr>
            <a:r>
              <a:rPr sz="1725" b="0"/>
              <a:t>• Inputs for a later predictive 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3CADA-D0B4-4F5C-BACE-AF224633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What it cannot claim yet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84928-6D07-4C88-AE25-43B47B6F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/>
            </a:pPr>
            <a:r>
              <a:rPr sz="1500" b="0"/>
              <a:t>Causality, sentiment, investment advice, or out-of-sample predictive performance.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36B4F-2AF3-4C20-BFE3-7E3F691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IOE 499  •  NVDA news-and-market-movement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E255A-948E-4D27-AEE2-D6D85024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/>
            </a:pPr>
            <a:r>
              <a:rPr sz="1200" b="1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0623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9BBD8-8423-41DE-AC75-AF585901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/>
            </a:pPr>
            <a:r>
              <a:rPr sz="2700" b="1"/>
              <a:t>Three stages turn raw records into an auditable research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5E355-B515-4CFA-BAE8-13F9183B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D39F4-3641-4E8B-8FE8-80AC7F96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D0C5D-B8C0-4491-82F8-8475CCF7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1  Market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676B1-42AA-45A4-A50F-E5D4CAAA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81FB7-C174-4284-BE83-A5A0843A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38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/>
            </a:pPr>
            <a:r>
              <a:rPr sz="1650" b="0"/>
              <a:t>Yahoo Finance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↓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Validated NASDAQ sessions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↓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Returns, volatility, volume, flags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45CB4-E9C0-4C12-B022-85C4CF90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81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/>
            </a:pPr>
            <a:r>
              <a:rPr sz="2250" b="1"/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A3694-557C-4B8A-9945-7CDE0268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84F47-C787-432A-B108-8D173C78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2  News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FEF72-5910-4297-A9F6-AEE6EB4A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34415-F59D-467D-8487-C63C2916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238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/>
            </a:pPr>
            <a:r>
              <a:rPr sz="1650" b="0"/>
              <a:t>Finnhub metadata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↓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Deduplication + rule-based relevance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↓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Direct / indirect articles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7353C-D725-4698-AE86-A7A3DC28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/>
            </a:pPr>
            <a:r>
              <a:rPr sz="2250" b="1"/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525C0-E44A-4ED2-B527-3E2CEE87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BCD72-AB6E-4A72-8618-9F4119AB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24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3  Temporal matching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3240A-6334-45E1-8AF0-5F89C2E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E68B5-7650-4F4C-B0A3-F52643A4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238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/>
            </a:pPr>
            <a:r>
              <a:rPr sz="1650" b="0"/>
              <a:t>Previous-session close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↓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24h, 72h, 7-calendar-day windows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↓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Event/article pairs + audits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2450F-57F3-43B9-992D-49B2A111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/>
            </a:pPr>
            <a:r>
              <a:rPr sz="1650" b="0"/>
              <a:t>The design separates acquisition, interpretation, and matching so each layer can be validated independently.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859F5-92B6-4AAA-8E36-A6B1F28F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IOE 499  •  NVDA news-and-market-movement 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6E9B5-7F41-4642-952B-76B7E683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/>
            </a:pPr>
            <a:r>
              <a:rPr sz="1200" b="1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4391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CDAAA-B428-4D96-9EA8-1C75C48D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/>
            </a:pPr>
            <a:r>
              <a:rPr sz="2700" b="1"/>
              <a:t>Market features are engineered for timing, not hindsight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D8798-9554-46DB-B858-22601994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/>
            </a:pPr>
            <a:r>
              <a:rPr sz="1350" b="0"/>
              <a:t>The same-day bar is only usable after the close; lagged fields support premarket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2A9D-715F-46FC-9C88-E2BB5972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4FB2C-D84A-4DC5-817A-26731D3C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Source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8294E-C527-4140-940C-BC9FBDC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/>
            </a:pPr>
            <a:r>
              <a:rPr sz="1650" b="0"/>
              <a:t>Open • high • low • close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Adjusted close • volume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Dividends • stock splits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FDE81-E9CA-41BB-9151-98182A79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Derived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D6217-C1FF-495A-B126-E9BBFEBF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8125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/>
            </a:pPr>
            <a:r>
              <a:rPr sz="1650" b="0"/>
              <a:t>1d and 5d returns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20-session volatility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20-session average volume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±1% and ±5% movement flags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47198-90CD-4B13-A055-51516B81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52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Timing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F63F1-D6BC-495A-9DE1-9E9E4A60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EA4D2-D396-41B8-994B-5E7A2D2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/>
            </a:pPr>
            <a:r>
              <a:rPr sz="1875" b="1"/>
              <a:t>Premarket date t</a:t>
            </a:r>
          </a:p>
          <a:p xmlns:a="http://schemas.openxmlformats.org/drawingml/2006/main">
            <a:pPr algn="ctr">
              <a:defRPr sz="1875" b="1"/>
            </a:pPr>
            <a:r>
              <a:rPr sz="1875" b="1"/>
              <a:t>uses t−1 lagged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85CBF-9707-423B-A98F-739FC49F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/>
            </a:pPr>
            <a:r>
              <a:rPr sz="1500" b="0"/>
              <a:t>No future target is created. Movement flags describe what already happened at the close.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A3B60-43C5-4D9F-AD5C-890C4A7E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IOE 499  •  NVDA news-and-market-movement research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E71A0-7B21-4690-BB90-2ECD31C9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/>
            </a:pPr>
            <a:r>
              <a:rPr sz="1200" b="1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6545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9ADFD-B757-48F5-B1FC-302622F1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/>
            </a:pPr>
            <a:r>
              <a:rPr sz="2700" b="1"/>
              <a:t>The news pipeline preserves context while applying explicit relevance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F10EE-F81E-47DA-8FE9-89E5A40B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56BA4-2DC0-459D-B4A8-AD518598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Nine queried tickers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BF358-2601-4BBD-AF0D-0F18C8A9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/>
            </a:pPr>
            <a:r>
              <a:rPr sz="1650" b="0"/>
              <a:t>NVDA  |  AMD  |  TSM  |  MU  |  AVGO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MSFT  |  AMZN  |  GOOGL  |  META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CA533-0BDC-4760-A431-E516202E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Themes retained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D197B-AFA6-4237-98CB-F1B52BC0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/>
            </a:pPr>
            <a:r>
              <a:rPr sz="1650" b="0"/>
              <a:t>Export controls and market access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AI infrastructure spending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Packaging / HBM / supply</a:t>
            </a:r>
          </a:p>
          <a:p xmlns:a="http://schemas.openxmlformats.org/drawingml/2006/main">
            <a:pPr>
              <a:defRPr sz="1650" b="0"/>
            </a:pPr>
            <a:r>
              <a:rPr sz="1650" b="0"/>
              <a:t>Competition, partnerships, regulation, products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A61E6-3D2F-49F4-9CE5-718DC418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A871D-286B-4FE9-A05D-B1A2A1B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/>
            </a:pPr>
            <a:r>
              <a:rPr sz="3450" b="1"/>
              <a:t>80,647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EBBEF-1F10-4001-ACC6-E12640A2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/>
            </a:pPr>
            <a:r>
              <a:rPr sz="1350" b="0"/>
              <a:t>raw ticker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DCA31-7792-4397-B672-0C8A6507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/>
            </a:pPr>
            <a:r>
              <a:rPr sz="3450" b="1"/>
              <a:t>53,073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D00D8-0D0E-4810-BAB9-07B1B062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006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/>
            </a:pPr>
            <a:r>
              <a:rPr sz="1350" b="0"/>
              <a:t>unique after ID/URL deduplication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F6AA3-00C9-46E5-B762-348F89E5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/>
            </a:pPr>
            <a:r>
              <a:rPr sz="3450" b="1"/>
              <a:t>9,740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32099-44AC-45CC-B969-9F976357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00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/>
            </a:pPr>
            <a:r>
              <a:rPr sz="1350" b="0"/>
              <a:t>direct/indirect articles 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9363B-7E8B-48C3-A03A-EE1DE0D1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IOE 499  •  NVDA news-and-market-movement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BB7F3-7F84-4B38-853D-39FCDC95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/>
            </a:pPr>
            <a:r>
              <a:rPr sz="1200" b="1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673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450D4-5B0C-42E6-9CF9-2F8CE32C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/>
            </a:pPr>
            <a:r>
              <a:rPr sz="2700" b="1"/>
              <a:t>The matcher uses the previous NASDAQ close as the event cutoff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FB8E1-9F33-4E24-A831-44157ED5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/>
            </a:pPr>
            <a:r>
              <a:rPr sz="1350" b="0"/>
              <a:t>This aligns the article window with a close-to-close movement label.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66626-00F9-4D19-8849-999B0AF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410B2-1D9B-4206-A2EC-4A46B8CD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FDC84-8D4E-4E17-B7A3-89F543AE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/>
            </a:pPr>
            <a:r>
              <a:rPr sz="1800" b="1"/>
              <a:t>Prior session</a:t>
            </a:r>
          </a:p>
          <a:p xmlns:a="http://schemas.openxmlformats.org/drawingml/2006/main">
            <a:pPr algn="ctr">
              <a:defRPr sz="1800" b="1"/>
            </a:pPr>
            <a:r>
              <a:rPr sz="1800" b="1"/>
              <a:t>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06C05-6E25-498A-8555-EC9D85AC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146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/>
            </a:pPr>
            <a:r>
              <a:rPr sz="1650" b="1"/>
              <a:t>← 24h 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F515C-3E20-4DB5-9DB2-E84CE6C2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448D2-B572-42C4-8BC0-7F7073C1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/>
            </a:pPr>
            <a:r>
              <a:rPr sz="1800" b="1"/>
              <a:t>Event date t</a:t>
            </a:r>
          </a:p>
          <a:p xmlns:a="http://schemas.openxmlformats.org/drawingml/2006/main">
            <a:pPr algn="ctr">
              <a:defRPr sz="1800" b="1"/>
            </a:pPr>
            <a:r>
              <a:rPr sz="1800" b="1"/>
              <a:t>close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2BC2F-5EC4-4F93-BC2A-9F0629C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/>
            </a:pPr>
            <a:r>
              <a:rPr sz="1650" b="1"/>
              <a:t>← 72 hours / 7 calendar days 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597F6-679C-4E20-9741-0EBE5435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Publication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F47A7-F147-4ADE-AB6E-B2F52BF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/>
            </a:pPr>
            <a:r>
              <a:rPr sz="2100" b="0"/>
              <a:t>window_start ≤ published_at &lt; cutoff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5D6C1-724F-47C0-88AE-56B95E7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/>
            </a:pPr>
            <a:r>
              <a:rPr sz="1425" b="0"/>
              <a:t>• Exact cutoff excluded</a:t>
            </a:r>
          </a:p>
          <a:p xmlns:a="http://schemas.openxmlformats.org/drawingml/2006/main">
            <a:pPr>
              <a:defRPr sz="1425" b="0"/>
            </a:pPr>
            <a:r>
              <a:rPr sz="1425" b="0"/>
              <a:t>• Exact 24h and 72h boundaries included</a:t>
            </a:r>
          </a:p>
          <a:p xmlns:a="http://schemas.openxmlformats.org/drawingml/2006/main">
            <a:pPr>
              <a:defRPr sz="1425" b="0"/>
            </a:pPr>
            <a:r>
              <a:rPr sz="1425" b="0"/>
              <a:t>• Seven-day window preserves New York wall-clock time across DST</a:t>
            </a:r>
          </a:p>
          <a:p xmlns:a="http://schemas.openxmlformats.org/drawingml/2006/main">
            <a:pPr>
              <a:defRPr sz="1425" b="0"/>
            </a:pPr>
            <a:r>
              <a:rPr sz="1425" b="0"/>
              <a:t>• Missing or timezone-ambiguous timestamps are reviewed, not guessed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FF836-F099-4979-AEE0-3AE41020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IOE 499  •  NVDA news-and-market-movement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81259-1195-4471-8B74-755C9721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/>
            </a:pPr>
            <a:r>
              <a:rPr sz="1200" b="1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3273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A1F2D-D5F1-43FD-B5EB-80B9DC1B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/>
            </a:pPr>
            <a:r>
              <a:rPr sz="2700" b="1"/>
              <a:t>The current run produces a strong event-level evidence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5E586-8530-423F-A0F7-4C9AC802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027F2-530B-420C-A154-C84FA2F5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Flagged event days by direction and threshold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38BB3-5A77-4599-8FDA-278620F2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/>
            </a:pPr>
            <a:r>
              <a:rPr sz="1500" b="1"/>
              <a:t>1% 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8C11A-E495-40AF-BDD1-70827B41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9555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633C4-ACE3-4C32-A1AA-A0ACF192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7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/>
            </a:pPr>
            <a:r>
              <a:rPr sz="1575" b="1"/>
              <a:t>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293E1-3732-485E-9745-F59F0122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/>
            </a:pPr>
            <a:r>
              <a:rPr sz="1500" b="1"/>
              <a:t>1% 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BBDA8-D4D6-4A3E-A5B7-888C1E60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51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3C8E7-11A1-4AE7-9C19-4282FA3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/>
            </a:pPr>
            <a:r>
              <a:rPr sz="1575" b="1"/>
              <a:t>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0B8B6-62C3-4909-85E8-EB00FF2F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/>
            </a:pPr>
            <a:r>
              <a:rPr sz="1500" b="1"/>
              <a:t>5% 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1D32F-9AF7-44C0-B9E5-4BBE3710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05F6D-C289-4F9E-8C3D-38097EC8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95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/>
            </a:pPr>
            <a:r>
              <a:rPr sz="1575" b="1"/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781B2-51F5-47E6-8A5C-13759771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/>
            </a:pPr>
            <a:r>
              <a:rPr sz="1500" b="1"/>
              <a:t>5% 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BDEB4-E21D-42D6-A229-40CFF282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43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00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BCC8F-DB52-4BCA-BA23-D0E3ADA7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053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/>
            </a:pPr>
            <a:r>
              <a:rPr sz="1575" b="1"/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5CEE3-8A09-4480-92C8-43E22C3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619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40A46-2871-4286-96CF-C8015013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/>
            </a:pPr>
            <a:r>
              <a:rPr sz="4200" b="1"/>
              <a:t>31,807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79EBE-01C5-43B6-9DD8-DE9AA810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/>
            </a:pPr>
            <a:r>
              <a:rPr sz="1650" b="0"/>
              <a:t>event/article pairs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2BC8A-B072-4D76-BEA3-8F914A4E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AEFB6-4F5B-4B65-B56E-07CFF195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/>
            </a:pPr>
            <a:r>
              <a:rPr sz="1500" b="0"/>
              <a:t>103 flagged sessions</a:t>
            </a:r>
          </a:p>
          <a:p xmlns:a="http://schemas.openxmlformats.org/drawingml/2006/main">
            <a:pPr>
              <a:defRPr sz="1500" b="0"/>
            </a:pPr>
            <a:r>
              <a:rPr sz="1500" b="0"/>
              <a:t>9,669 unique matched articles</a:t>
            </a:r>
          </a:p>
          <a:p xmlns:a="http://schemas.openxmlformats.org/drawingml/2006/main">
            <a:pPr>
              <a:defRPr sz="1500" b="0"/>
            </a:pPr>
            <a:r>
              <a:rPr sz="1500" b="0"/>
              <a:t>5% categories overlap 1% categories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54AED-74F4-47DC-9842-4F2691E9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IOE 499  •  NVDA news-and-market-movement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2D265-FCAD-4CC0-9BE0-F858F87D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/>
            </a:pPr>
            <a:r>
              <a:rPr sz="1200" b="1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4151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1A016-AF36-427F-BA20-014FA9AB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/>
            </a:pPr>
            <a:r>
              <a:rPr sz="2700" b="1"/>
              <a:t>Auditability is a feature—and the main caveat is historical availability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FBA66-667C-40F8-933D-82383DA4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6FA61-BF21-4C4A-87D8-FEB702D2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Validated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8F3A8-6EFF-4170-A1CF-C157189C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/>
            </a:pPr>
            <a:r>
              <a:rPr sz="1575" b="0"/>
              <a:t>✓ Original indicators unchanged</a:t>
            </a:r>
          </a:p>
          <a:p xmlns:a="http://schemas.openxmlformats.org/drawingml/2006/main">
            <a:pPr>
              <a:defRPr sz="1575" b="0"/>
            </a:pPr>
            <a:r>
              <a:rPr sz="1575" b="0"/>
              <a:t>✓ Strictly pre-cutoff matching</a:t>
            </a:r>
          </a:p>
          <a:p xmlns:a="http://schemas.openxmlformats.org/drawingml/2006/main">
            <a:pPr>
              <a:defRPr sz="1575" b="0"/>
            </a:pPr>
            <a:r>
              <a:rPr sz="1575" b="0"/>
              <a:t>✓ Unique event/article pairs</a:t>
            </a:r>
          </a:p>
          <a:p xmlns:a="http://schemas.openxmlformats.org/drawingml/2006/main">
            <a:pPr>
              <a:defRPr sz="1575" b="0"/>
            </a:pPr>
            <a:r>
              <a:rPr sz="1575" b="0"/>
              <a:t>✓ Window counts consistent</a:t>
            </a:r>
          </a:p>
          <a:p xmlns:a="http://schemas.openxmlformats.org/drawingml/2006/main">
            <a:pPr>
              <a:defRPr sz="1575" b="0"/>
            </a:pPr>
            <a:r>
              <a:rPr sz="1575" b="0"/>
              <a:t>✓ Input files hash-checked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51892-D3F1-49EC-9495-13F3FE28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Needs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13829-AA14-4B1A-8261-838253AF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/>
            </a:pPr>
            <a:r>
              <a:rPr sz="1575" b="0"/>
              <a:t>19 events with coverage issues</a:t>
            </a:r>
          </a:p>
          <a:p xmlns:a="http://schemas.openxmlformats.org/drawingml/2006/main">
            <a:pPr>
              <a:defRPr sz="1575" b="0"/>
            </a:pPr>
            <a:r>
              <a:rPr sz="1575" b="0"/>
              <a:t>9 with known collection gaps</a:t>
            </a:r>
          </a:p>
          <a:p xmlns:a="http://schemas.openxmlformats.org/drawingml/2006/main">
            <a:pPr>
              <a:defRPr sz="1575" b="0"/>
            </a:pPr>
            <a:r>
              <a:rPr sz="1575" b="0"/>
              <a:t>10 near potential truncation</a:t>
            </a:r>
          </a:p>
          <a:p xmlns:a="http://schemas.openxmlformats.org/drawingml/2006/main">
            <a:pPr>
              <a:defRPr sz="1575" b="0"/>
            </a:pPr>
            <a:r>
              <a:rPr sz="1575" b="0"/>
              <a:t>31,807 pairs marked historically uncertain</a:t>
            </a:r>
          </a:p>
          <a:p xmlns:a="http://schemas.openxmlformats.org/drawingml/2006/main">
            <a:pPr>
              <a:defRPr sz="1575" b="0"/>
            </a:pPr>
            <a:r>
              <a:rPr sz="1575" b="0"/>
              <a:t>66 possible raw content variants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401E0-7C77-4459-BF31-4BD98A2E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A successful request is not proof of complete publisher coverage, and a September 2026 snapshot is not proof an article was available before the event.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46078-79E3-4721-9ED6-637E8C24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IOE 499  •  NVDA news-and-market-movement 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12249-5BED-40C5-BC45-F7959BF4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/>
            </a:pPr>
            <a:r>
              <a:rPr sz="1200" b="1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2258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04B19-CCE3-43C1-A23D-034555D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/>
            </a:pPr>
            <a:r>
              <a:rPr sz="2700" b="1"/>
              <a:t>The next layer should test association before attempting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11775-BC76-496C-B339-33D13D9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80E87-563E-4C83-ACD3-7915D4E8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18260-57D9-4C48-AEF1-6FA71A56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E28D9-3EC3-4795-884A-DD617F6A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/>
            </a:pPr>
            <a:r>
              <a:rPr sz="1725" b="1"/>
              <a:t>Complete and align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56A98-5DB8-493B-8B2B-3C8D37E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/>
            </a:pPr>
            <a:r>
              <a:rPr sz="1425" b="0"/>
              <a:t>Extend stock/news periods and resolve flagged coverage gaps.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A9B3F-4017-4505-A4EE-ED4E22BC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33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2A3F9-443D-4FAC-9D9B-44949D44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6AB84-DF56-4C7F-9E80-48CD484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/>
            </a:pPr>
            <a:r>
              <a:rPr sz="1725" b="1"/>
              <a:t>Aggregate and 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4172E-27DE-4838-9273-B477DE04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718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/>
            </a:pPr>
            <a:r>
              <a:rPr sz="1425" b="0"/>
              <a:t>Summarize by event/category; add non-event control days.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9E2F1-77F2-4DEE-BE07-5E93E887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A7AC0-EFFC-4757-8B0B-C0FC9F8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479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85FCB-B01B-4A38-91A8-786B6FF9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/>
            </a:pPr>
            <a:r>
              <a:rPr sz="1725" b="1"/>
              <a:t>Model carefully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633B9-3B31-4306-B016-AD8B9E3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/>
            </a:pPr>
            <a:r>
              <a:rPr sz="1425" b="0"/>
              <a:t>Chronological splits, lagged news features, market controls.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A4DA4-8279-4C95-A96C-40F41EC5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1D43A-E580-48EF-94C8-B683F3AA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52824-8994-49F0-AFBA-F8DDE025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/>
            </a:pPr>
            <a:r>
              <a:rPr sz="1725" b="1"/>
              <a:t>Evaluate honestly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DCFD7-233D-448F-A2AF-70163369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/>
            </a:pPr>
            <a:r>
              <a:rPr sz="1425" b="0"/>
              <a:t>Baselines, effect sizes, uncertainty intervals, leakage checks.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24ADE-5CC3-4E60-B1ED-3011A9B2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/>
            </a:pPr>
            <a:r>
              <a:rPr sz="1800" b="1"/>
              <a:t>Bottom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29F10-D662-4605-9D35-58C4056C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/>
            </a:pPr>
            <a:r>
              <a:rPr sz="1800" b="0"/>
              <a:t>The project has built a disciplined, auditable foundation for studying news around NVDA price moves. The causal and predictive questions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00416-F9D3-487A-87FB-31A6AE30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/>
            </a:pPr>
            <a:r>
              <a:rPr sz="1200" b="0"/>
              <a:t>IOE 499  •  NVDA news-and-market-movement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87BF4-C411-482E-9E4F-4BEC537E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/>
            </a:pPr>
            <a:r>
              <a:rPr sz="1200" b="1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2795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2026-09-16T04:27:47.2430000Z</dcterms:created>
  <dcterms:modified xsi:type="dcterms:W3CDTF">2026-09-16T04:27:47.2430000Z</dcterms:modified>
</coreProperties>
</file>